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AIG130 — Lab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ML Platform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2971800"/>
            <a:ext cx="3657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00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B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  ·  Google AutoML (Vertex AI)  ·  Azure ML Studio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931920"/>
            <a:ext cx="4389120" cy="822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4005072"/>
            <a:ext cx="4206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Insurance Fraud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170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Selection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Insurance Fraud Detection — why it's an ideal ML benchmark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170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572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pipeline — data ingestion to monitoring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86000"/>
            <a:ext cx="5486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8600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359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AutoML (Vertex AI)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7614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Tables and custom training path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5486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8600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359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Studio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7614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Designer, AutoML, and Responsible AI tooling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474720"/>
            <a:ext cx="5486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747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547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9502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use, flexibility, scalability, compliance, MLOps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74720"/>
            <a:ext cx="54864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747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547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9502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platform per organizational scenario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Case Selection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Insurance Fraud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fraud costs the U.S. system an estimated $300B annually. Insurers need scalable ML to flag suspicious claims before payment is processed.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Goal: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historical claims data (demographics, provider info, procedure codes, billing amounts), predict whether a new claim is fraudulent (1) or legitimate (0).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case?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tabular data — ideal for all 3 platforms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challenge (fraud is rare)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Regulatory/compliance pressure (HIPAA)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real-time inference at scale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005840"/>
            <a:ext cx="32918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1005840"/>
            <a:ext cx="32918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02412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Stages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1572768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572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1911096"/>
            <a:ext cx="3200400" cy="9144"/>
          </a:xfrm>
          <a:prstGeom prst="rect">
            <a:avLst/>
          </a:prstGeom>
          <a:solidFill>
            <a:srgbClr val="E5EAEE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2020824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0208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23560" y="2359152"/>
            <a:ext cx="3200400" cy="9144"/>
          </a:xfrm>
          <a:prstGeom prst="rect">
            <a:avLst/>
          </a:prstGeom>
          <a:solidFill>
            <a:srgbClr val="E5EAEE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2468880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468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2807208"/>
            <a:ext cx="3200400" cy="9144"/>
          </a:xfrm>
          <a:prstGeom prst="rect">
            <a:avLst/>
          </a:prstGeom>
          <a:solidFill>
            <a:srgbClr val="E5EAEE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916936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9169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23560" y="3255264"/>
            <a:ext cx="3200400" cy="9144"/>
          </a:xfrm>
          <a:prstGeom prst="rect">
            <a:avLst/>
          </a:prstGeom>
          <a:solidFill>
            <a:srgbClr val="E5EAEE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3364992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33649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23560" y="3703320"/>
            <a:ext cx="3200400" cy="9144"/>
          </a:xfrm>
          <a:prstGeom prst="rect">
            <a:avLst/>
          </a:prstGeom>
          <a:solidFill>
            <a:srgbClr val="E5EAEE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3813048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38130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23560" y="4151376"/>
            <a:ext cx="3200400" cy="9144"/>
          </a:xfrm>
          <a:prstGeom prst="rect">
            <a:avLst/>
          </a:prstGeom>
          <a:solidFill>
            <a:srgbClr val="E5EAEE"/>
          </a:solidFill>
          <a:ln w="12700">
            <a:solidFill>
              <a:srgbClr val="E5EA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23560" y="4261104"/>
            <a:ext cx="7315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42611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AWS SageMaker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FF9900">
              <a:alpha val="85000"/>
            </a:srgbClr>
          </a:solidFill>
          <a:ln w="12700">
            <a:solidFill>
              <a:srgbClr val="FF9900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3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Storage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 in Amazon S3; AWS Glue for ETL; Data Wrangler for no-code prep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solidFill>
            <a:srgbClr val="FF9900">
              <a:alpha val="85000"/>
            </a:srgbClr>
          </a:solidFill>
          <a:ln w="12700">
            <a:solidFill>
              <a:srgbClr val="FF9900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3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389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Data Wrangler transforms; Processing Jobs for custom scripts; Feature Store for reusable features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solidFill>
            <a:srgbClr val="FF9900">
              <a:alpha val="85000"/>
            </a:srgbClr>
          </a:solidFill>
          <a:ln w="12700">
            <a:solidFill>
              <a:srgbClr val="FF9900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3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XGBoost (optimized + distributed); Script Mode (TF/PyTorch); Automatic Model Tuning (Bayesian HPO)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31720"/>
            <a:ext cx="4114800" cy="347472"/>
          </a:xfrm>
          <a:prstGeom prst="rect">
            <a:avLst/>
          </a:prstGeom>
          <a:solidFill>
            <a:srgbClr val="FF9900">
              <a:alpha val="85000"/>
            </a:srgbClr>
          </a:solidFill>
          <a:ln w="12700">
            <a:solidFill>
              <a:srgbClr val="FF9900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3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Experiments tracks all runs; Clarify for bias detection; CloudWatch for metric visualization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4114800" cy="347472"/>
          </a:xfrm>
          <a:prstGeom prst="rect">
            <a:avLst/>
          </a:prstGeom>
          <a:solidFill>
            <a:srgbClr val="FF9900">
              <a:alpha val="85000"/>
            </a:srgbClr>
          </a:solidFill>
          <a:ln w="12700">
            <a:solidFill>
              <a:srgbClr val="FF9900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3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4041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Endpoint (REST); Asynchronous Inference for batch; Auto-scaling + A/B testing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57600"/>
            <a:ext cx="4114800" cy="347472"/>
          </a:xfrm>
          <a:prstGeom prst="rect">
            <a:avLst/>
          </a:prstGeom>
          <a:solidFill>
            <a:srgbClr val="FF9900">
              <a:alpha val="85000"/>
            </a:srgbClr>
          </a:solidFill>
          <a:ln w="12700">
            <a:solidFill>
              <a:srgbClr val="FF9900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3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4041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 for data drift; SNS alerts; Pipelines + EventBridge auto-retrain triggers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Google AutoML (Vertex AI)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4285F4">
              <a:alpha val="85000"/>
            </a:srgbClr>
          </a:solidFill>
          <a:ln w="12700">
            <a:solidFill>
              <a:srgbClr val="4285F4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Storage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in GCS or BigQuery; Vertex AI Datasets connects directly; Dataflow (Apache Beam) for serverless ETL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solidFill>
            <a:srgbClr val="4285F4">
              <a:alpha val="85000"/>
            </a:srgbClr>
          </a:solidFill>
          <a:ln w="12700">
            <a:solidFill>
              <a:srgbClr val="4285F4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389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Tables auto-handles encoding/normalization; Vertex Feature Store on BigQuery; Cloud Dataprep for visual wrangling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solidFill>
            <a:srgbClr val="4285F4">
              <a:alpha val="85000"/>
            </a:srgbClr>
          </a:solidFill>
          <a:ln w="12700">
            <a:solidFill>
              <a:srgbClr val="4285F4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Tables trains &amp; selects best model automatically (ensemble + NAS); Custom Training with containers; Vizier for HPO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31720"/>
            <a:ext cx="4114800" cy="347472"/>
          </a:xfrm>
          <a:prstGeom prst="rect">
            <a:avLst/>
          </a:prstGeom>
          <a:solidFill>
            <a:srgbClr val="4285F4">
              <a:alpha val="85000"/>
            </a:srgbClr>
          </a:solidFill>
          <a:ln w="12700">
            <a:solidFill>
              <a:srgbClr val="4285F4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report: confusion matrix, AUC-ROC, Precision-Recall; Vertex Explainable AI (SHAP) per prediction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4114800" cy="347472"/>
          </a:xfrm>
          <a:prstGeom prst="rect">
            <a:avLst/>
          </a:prstGeom>
          <a:solidFill>
            <a:srgbClr val="4285F4">
              <a:alpha val="85000"/>
            </a:srgbClr>
          </a:solidFill>
          <a:ln w="12700">
            <a:solidFill>
              <a:srgbClr val="4285F4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4041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Prediction Endpoint for real-time; Batch Prediction Jobs for large claim files; Traffic splitting for safe rollouts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57600"/>
            <a:ext cx="4114800" cy="347472"/>
          </a:xfrm>
          <a:prstGeom prst="rect">
            <a:avLst/>
          </a:prstGeom>
          <a:solidFill>
            <a:srgbClr val="4285F4">
              <a:alpha val="85000"/>
            </a:srgbClr>
          </a:solidFill>
          <a:ln w="12700">
            <a:solidFill>
              <a:srgbClr val="4285F4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4041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Model Monitoring for feature/prediction drift; Cloud Monitoring alerts; Kubeflow-based Pipelines for auto-retrain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Azure ML Studio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0078D4">
              <a:alpha val="85000"/>
            </a:srgbClr>
          </a:solidFill>
          <a:ln w="12700">
            <a:solidFill>
              <a:srgbClr val="0078D4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Storage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/ ADLS Gen2; Data Factory + Synapse for ETL; Versioned Datastores for reproducible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solidFill>
            <a:srgbClr val="0078D4">
              <a:alpha val="85000"/>
            </a:srgbClr>
          </a:solidFill>
          <a:ln w="12700">
            <a:solidFill>
              <a:srgbClr val="0078D4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389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Designer with drag-and-drop modules; SDK for custom scripts; Feature Store (preview); Data Factory for complex ETL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solidFill>
            <a:srgbClr val="0078D4">
              <a:alpha val="85000"/>
            </a:srgbClr>
          </a:solidFill>
          <a:ln w="12700">
            <a:solidFill>
              <a:srgbClr val="0078D4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evaluates dozens of algorithms, handles class imbalance; Script Run supports any Python framework; Distributed training (DDP/Horovod)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31720"/>
            <a:ext cx="4114800" cy="347472"/>
          </a:xfrm>
          <a:prstGeom prst="rect">
            <a:avLst/>
          </a:prstGeom>
          <a:solidFill>
            <a:srgbClr val="0078D4">
              <a:alpha val="85000"/>
            </a:srgbClr>
          </a:solidFill>
          <a:ln w="12700">
            <a:solidFill>
              <a:srgbClr val="0078D4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2715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AutoML dashboard: AUC-ROC, lift chart, calibration; Responsible AI Dashboard (SHAP, LIME, fairness, error analysis)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4114800" cy="347472"/>
          </a:xfrm>
          <a:prstGeom prst="rect">
            <a:avLst/>
          </a:prstGeom>
          <a:solidFill>
            <a:srgbClr val="0078D4">
              <a:alpha val="85000"/>
            </a:srgbClr>
          </a:solidFill>
          <a:ln w="12700">
            <a:solidFill>
              <a:srgbClr val="0078D4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4041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for production-grade endpoints; ACI for dev/test; Batch endpoints for large files; API Management for auth &amp; rate limiting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57600"/>
            <a:ext cx="4114800" cy="347472"/>
          </a:xfrm>
          <a:prstGeom prst="rect">
            <a:avLst/>
          </a:prstGeom>
          <a:solidFill>
            <a:srgbClr val="0078D4">
              <a:alpha val="85000"/>
            </a:srgbClr>
          </a:solidFill>
          <a:ln w="12700">
            <a:solidFill>
              <a:srgbClr val="0078D4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4041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+ prediction drift on schedule; Azure Monitor + Application Insights for telemetry; Pipelines for automated retraining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Comparative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005840"/>
            <a:ext cx="2011680" cy="411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005840"/>
            <a:ext cx="201168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005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AutoML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1005840"/>
            <a:ext cx="2286000" cy="4114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005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Studio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444752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444752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1444752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1444752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– SDK-heavy, steep curve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1444752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1444752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minimal ML expertise needed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1444752"/>
            <a:ext cx="22860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1444752"/>
            <a:ext cx="2176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Designer wizard for beginners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157984"/>
            <a:ext cx="2011680" cy="667512"/>
          </a:xfrm>
          <a:prstGeom prst="rect">
            <a:avLst/>
          </a:prstGeom>
          <a:solidFill>
            <a:srgbClr val="EEF4F7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157984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2157984"/>
            <a:ext cx="2011680" cy="667512"/>
          </a:xfrm>
          <a:prstGeom prst="rect">
            <a:avLst/>
          </a:prstGeom>
          <a:solidFill>
            <a:srgbClr val="EEF4F7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95728" y="2157984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– full algorithm &amp; container control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2157984"/>
            <a:ext cx="2011680" cy="667512"/>
          </a:xfrm>
          <a:prstGeom prst="rect">
            <a:avLst/>
          </a:prstGeom>
          <a:solidFill>
            <a:srgbClr val="EEF4F7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2157984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– AutoML is a black box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7960" y="2157984"/>
            <a:ext cx="2286000" cy="667512"/>
          </a:xfrm>
          <a:prstGeom prst="rect">
            <a:avLst/>
          </a:prstGeom>
          <a:solidFill>
            <a:srgbClr val="EEF4F7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2157984"/>
            <a:ext cx="2176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visual + code SDK, any framework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871216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2871216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2871216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95728" y="2871216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– distributed, spot, serverless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34840" y="2871216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8848" y="2871216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serverless AutoML, TPU support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37960" y="2871216"/>
            <a:ext cx="22860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2871216"/>
            <a:ext cx="2176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AKS, auto-scale compute clusters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584448"/>
            <a:ext cx="2011680" cy="667512"/>
          </a:xfrm>
          <a:prstGeom prst="rect">
            <a:avLst/>
          </a:prstGeom>
          <a:solidFill>
            <a:srgbClr val="EEF4F7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3584448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31720" y="3584448"/>
            <a:ext cx="2011680" cy="667512"/>
          </a:xfrm>
          <a:prstGeom prst="rect">
            <a:avLst/>
          </a:prstGeom>
          <a:solidFill>
            <a:srgbClr val="EEF4F7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95728" y="3584448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Clarify (bias + SHAP), HIPAA-eligible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34840" y="3584448"/>
            <a:ext cx="2011680" cy="667512"/>
          </a:xfrm>
          <a:prstGeom prst="rect">
            <a:avLst/>
          </a:prstGeom>
          <a:solidFill>
            <a:srgbClr val="EEF4F7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3584448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Moderate-High – SHAP via Explainable AI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37960" y="3584448"/>
            <a:ext cx="2286000" cy="667512"/>
          </a:xfrm>
          <a:prstGeom prst="rect">
            <a:avLst/>
          </a:prstGeom>
          <a:solidFill>
            <a:srgbClr val="EEF4F7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1968" y="3584448"/>
            <a:ext cx="2176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– Responsible AI Dashboard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4297680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4297680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Maturity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331720" y="4297680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95728" y="4297680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– Pipelines, Registry, Monitor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34840" y="4297680"/>
            <a:ext cx="2011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98848" y="4297680"/>
            <a:ext cx="1901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Kubeflow Pipelines, more setup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37960" y="4297680"/>
            <a:ext cx="22860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01968" y="4297680"/>
            <a:ext cx="2176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Pipelines + GitOps via DevOps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Strengths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834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834640" cy="411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73936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flexible &amp; customizable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MLOps (Pipelines, Monitor)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built-in algorithm library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2651760" cy="9144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learning curve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UX across many services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 needs planning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834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83464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24128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AutoML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1773936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to use — minimal ML expertise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BigQuery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auto-generated eval reports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2651760" cy="9144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108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is a black-box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mature MLOps vs. SageMaker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training less integrated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1005840"/>
            <a:ext cx="2834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005840"/>
            <a:ext cx="2834640" cy="4114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024128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Studio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4808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1773936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Responsible AI + fairness tooling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Microsoft-ecosystem orgs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interface (Designer + SDK)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2743200"/>
            <a:ext cx="2651760" cy="9144"/>
          </a:xfrm>
          <a:prstGeom prst="rect">
            <a:avLst/>
          </a:prstGeom>
          <a:solidFill>
            <a:srgbClr val="D0E4EA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2816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108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less flexible than pure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deployment adds ops complexity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still in preview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Conclusion &amp; Recommendation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503920" cy="914400"/>
          </a:xfrm>
          <a:prstGeom prst="rect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Recommended for Healthcare Fraud Detection: Azure ML Studio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Dashboard + HIPAA compliance + dual interface (Designer + SDK) make it the strongest fit for regulated healthcare environments.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Quick-Reference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850392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12848"/>
            <a:ext cx="73152" cy="4572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128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/ limited ML expertise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212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AutoML (Vertex AI)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503920" cy="45720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43200"/>
            <a:ext cx="73152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43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on AWS, custom model requirements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850392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73552"/>
            <a:ext cx="73152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735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finance, regulatory compliance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273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Studio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03904"/>
            <a:ext cx="8503920" cy="45720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03904"/>
            <a:ext cx="73152" cy="4572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0390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Data-warehouse-centric analytics team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38039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AutoML + BigQuery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334256"/>
            <a:ext cx="850392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334256"/>
            <a:ext cx="73152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3342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team, cutting-edge architectures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4334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 (Script Mode)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2004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AIG130 — Lab 4  |  Cloud ML Platform Comparative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ML Platform Comparative Analysis</dc:title>
  <dc:subject>PptxGenJS Presentation</dc:subject>
  <dc:creator>PptxGenJS</dc:creator>
  <cp:lastModifiedBy>PptxGenJS</cp:lastModifiedBy>
  <cp:revision>1</cp:revision>
  <dcterms:created xsi:type="dcterms:W3CDTF">2026-03-19T23:48:45Z</dcterms:created>
  <dcterms:modified xsi:type="dcterms:W3CDTF">2026-03-19T23:48:45Z</dcterms:modified>
</cp:coreProperties>
</file>